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Speedup Comparison (log scale approximation)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8ED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5E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Serial</c:v>
                  </c:pt>
                  <c:pt idx="1">
                    <c:v>OpenMP</c:v>
                  </c:pt>
                  <c:pt idx="2">
                    <c:v>MPI</c:v>
                  </c:pt>
                  <c:pt idx="3">
                    <c:v>CUDA</c:v>
                  </c:pt>
                  <c:pt idx="4">
                    <c:v>Hybrid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11</c:v>
                </c:pt>
                <c:pt idx="2">
                  <c:v>45</c:v>
                </c:pt>
                <c:pt idx="3">
                  <c:v>200</c:v>
                </c:pt>
                <c:pt idx="4">
                  <c:v>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E8ED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548640"/>
            <a:ext cx="3200400" cy="3200400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017520"/>
            <a:ext cx="1828800" cy="1828800"/>
          </a:xfrm>
          <a:prstGeom prst="ellipse">
            <a:avLst/>
          </a:prstGeom>
          <a:solidFill>
            <a:srgbClr val="112260"/>
          </a:solidFill>
          <a:ln w="12700">
            <a:solidFill>
              <a:srgbClr val="112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UCS645 · Parallel &amp; Distributed Computing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Parallel Distributed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Cracking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MPI, OpenMP &amp; CUDA in C++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Divyam Puri (102483023)   |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Kumar (102303598)   |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Lavish Arora (102483041)   |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Bharti Verma (102303575)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Saif Nalband  ·  DCSE, TIET Patiala  ·  May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5156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5270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password cracking demands HPC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28600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59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and what's missing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52044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593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3995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Math, bottlenecks, objectives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5156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1247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49240" y="15270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Master-worker MPI design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28600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359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49240" y="2761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Brute-force, dictionary, index-based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520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520440"/>
            <a:ext cx="502920" cy="10058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3593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349240" y="39959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Speedup, scalability, attack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the primary security mechanism for digital systems.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and dictionary attacks require testing millions of hash combinations — prohibitively slow on sequential CPUs.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8-char alphanumeric password yields |S| ≈ 62⁸ &gt; 218 trillion combinations.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rely on a single layer of parallelism, leaving hardware underutilised.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508760"/>
            <a:ext cx="3749040" cy="82296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664208"/>
            <a:ext cx="512064" cy="512064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machines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2532888"/>
            <a:ext cx="3749040" cy="82296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2688336"/>
            <a:ext cx="512064" cy="512064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6883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77840" y="26243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parallelism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557016"/>
            <a:ext cx="3749040" cy="82296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3712464"/>
            <a:ext cx="512064" cy="512064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712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36484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computation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09728" cy="12344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41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(2025)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216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GPU-based Parallel PCFG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9418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88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30–60% cracking rate in 30 min; 14.33% of prior model time; bridges PCFG with Hashcat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9418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 only; no multi-GPU scaling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109728" cy="12344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Alkhwaja et al. (2023)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vs. Dictionary Attack Comparison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3134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2560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 11.5× faster than integrated GPU; dictionary 930× faster than brute-force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3134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560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passwords tested; only MD5 hashed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109728" cy="123444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Bengtsson (2007)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3959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Cluster for Forensic Password Cracking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6850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3931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12,500 hashes/sec on 10-node cluster; affordable COTS HPC for forensics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685032"/>
            <a:ext cx="73152" cy="10789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657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931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GPU; no scalability measurements; CPU only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Identified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14300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960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Tri-Layer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399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MPI, OpenMP, and CUDA never combined in a single system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532888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1872" y="23500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within Distributed Nodes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work (Bengtsson) relied entirely on CPUs, ~12,500 hash/s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922776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922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37398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Coordinated Early Termination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41788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MPI broadcast to halt all nodes on password discovery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114300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50992" y="960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50992" y="13990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prior systems use fixed equal-chunk assignments; no dynamic load balancing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258568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2532888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532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50992" y="23500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Attack Modalities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50992" y="2788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and dictionary attacks tested separately with confounding variables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9472" y="3922776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922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50992" y="373989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Performance Evaluation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50992" y="41788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too limited (10 passwords / single metric / single node count)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86200" cy="1965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Cardinality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|S| = Σ |C|^i   (i = min … max)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|C| = 62, L = 8  →  |S| &gt; 218 Trillion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Tdiscovery via parallel partitioning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22960"/>
            <a:ext cx="109728" cy="86868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87782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Maximisation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188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global hash rate H = Σhn across all N nodes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828800"/>
            <a:ext cx="109728" cy="86868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8836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Minimisation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MPI data exchange overhead below GPU kernel throughput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8346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34640"/>
            <a:ext cx="109728" cy="86868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28895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Partitioning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32004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sub-ranges ra ∩ rb = ∅, no duplicate hashing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Computational Bottlenecks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Starvation: </a:t>
            </a:r>
            <a:pPr indent="0" marL="0">
              <a:buNone/>
            </a:pPr>
            <a:r>
              <a:rPr lang="en-US" sz="11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candidate generation (G) slower than GPU hash rate (H) → GPU idle.   </a:t>
            </a:r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Termination: </a:t>
            </a:r>
            <a:pPr indent="0" marL="0">
              <a:buNone/>
            </a:pPr>
            <a:r>
              <a:rPr lang="en-US" sz="11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MPI broadcast on match M, all N nodes continue wasting cycles.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017520" y="822960"/>
            <a:ext cx="310896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3E8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017520" y="822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NODE  (MPI Rank 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· Partition Search Space · Distribute · Aggregate Results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00200" y="1828800"/>
            <a:ext cx="0" cy="502920"/>
          </a:xfrm>
          <a:prstGeom prst="line">
            <a:avLst/>
          </a:prstGeom>
          <a:noFill/>
          <a:ln w="19050">
            <a:solidFill>
              <a:srgbClr val="3E8E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2286000" cy="384048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201168" cy="420624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43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parallelism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201168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38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Kernels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hash computation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005072"/>
            <a:ext cx="20116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Index→Password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00200" y="4745736"/>
            <a:ext cx="0" cy="201168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828800"/>
            <a:ext cx="0" cy="502920"/>
          </a:xfrm>
          <a:prstGeom prst="line">
            <a:avLst/>
          </a:prstGeom>
          <a:noFill/>
          <a:ln w="19050">
            <a:solidFill>
              <a:srgbClr val="3E8E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33172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83280" y="2331720"/>
            <a:ext cx="2286000" cy="384048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816352"/>
            <a:ext cx="201168" cy="420624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843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0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parallelism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3410712"/>
            <a:ext cx="201168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438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Kernels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hash computation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4005072"/>
            <a:ext cx="20116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Index→Password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4745736"/>
            <a:ext cx="0" cy="201168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1828800"/>
            <a:ext cx="0" cy="502920"/>
          </a:xfrm>
          <a:prstGeom prst="line">
            <a:avLst/>
          </a:prstGeom>
          <a:noFill/>
          <a:ln w="19050">
            <a:solidFill>
              <a:srgbClr val="3E8E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331720"/>
            <a:ext cx="22860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2331720"/>
            <a:ext cx="2286000" cy="384048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0" y="2816352"/>
            <a:ext cx="201168" cy="420624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843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CPU parallelism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0" y="3410712"/>
            <a:ext cx="201168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3438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Kernels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3630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hash computation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0" y="4005072"/>
            <a:ext cx="201168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032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Index→Password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4745736"/>
            <a:ext cx="0" cy="201168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946904"/>
            <a:ext cx="8229600" cy="50292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94690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Aggregated → Early Termination on Match (MPI Broadcast)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(Index-Based)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numeric index → password candidate without storing all passwords in memory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set C and length range [Lmin, Lmax] define the mapping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Divisible across MPI ranks, OpenMP threads, and CUDA kernels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4114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26080"/>
            <a:ext cx="4114800" cy="36576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wordlist file; divide words among MPI worker ranks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hashes its words and compares against target hash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 realistic/weak passwords; bounded by wordlist size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023360" cy="19202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850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Comparison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Hash(candidate) = Target Hash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match → record password, send to Master, broadcast STOP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MD5, SHA-1, SHA-256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9992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Hashes/sec = Total Hashes ÷ Execution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 = Serial Time ÷ Parallel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736592"/>
            <a:ext cx="8412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365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Worker: if CUDA → launch kernel per batch; else OpenMP parallel loop → hash → compare → send result to Master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" cy="91440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C++ framework integrating MPI, OpenMP, and CUDA for hybrid parallel execution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109728" cy="91440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password search space into non-overlapping ranges distributed across MPI workers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109728" cy="91440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OpenMP for multi-threaded CPU candidate generation within each worker process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109728" cy="91440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0690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CUDA kernels for GPU-accelerated hashing across thousands of parallel threads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91440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index-based candidate generation — memory-efficient and massively parallelisable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96596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dictionary-based attack mode with MPI-distributed wordlist processing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926080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301752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speedup, scalability, hashes/sec across single-thread, OpenMP, MPI, and hybrid configs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77640"/>
            <a:ext cx="10972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06908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HPC techniques applied to cybersecurity and password strength auditing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55448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03120" y="822960"/>
            <a:ext cx="155448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1481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822960"/>
            <a:ext cx="155448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1481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77840" y="822960"/>
            <a:ext cx="155448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577840" y="1481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822960"/>
            <a:ext cx="1554480" cy="12344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868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8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~6000×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0" y="14813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MPI+OMP+CUDA</a:t>
            </a:r>
            <a:endParaRPr lang="en-US" sz="9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5760" y="219456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194560"/>
          <a:ext cx="3200400" cy="13716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 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&lt;0.1 sec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E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57784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Cracking Time Comparison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577840" y="3749040"/>
            <a:ext cx="3200400" cy="105156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669280" y="379476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 up to 6,000× faster than serial execution — brute-force time drops from 24 hours to ~1 minute.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11480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8862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scales non-linearly — each layer multiplies the previous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(CUDA) delivers the single highest per-node performance gain (~200×)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enables near-linear node-count scaling in distributed settings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early-termination broadcast eliminates redundant post-match computation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 is ~930× faster than brute-force for realistic passwords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40233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workload distribution can cause load imbalance across heterogeneous nodes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limits the maximum batch size for CUDA kernels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communication overhead increases at high node counts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attack effectiveness is bounded by wordlist coverage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8412480" cy="11430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764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Utilisation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 fully utilised via OpenMP threads  ·  GPU handles large hash batches concurrently  ·  MPI ensures distributed nodes run with minimal idle time  →  Maximum hardware utilisation achieved across all layers.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12260"/>
          </a:solidFill>
          <a:ln w="12700">
            <a:solidFill>
              <a:srgbClr val="112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160520" cy="146304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55448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252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Tri-Layer Parallelism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2588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(distributed) + OpenMP (CPU threads) + CUDA (GPU) achieve ~6,000× speedup over serial execution.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60520" cy="146304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324612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in Minutes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serial task is completed in ~1 minute with the full hybrid stack.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4160520" cy="146304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155448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1252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All Research Gaps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1500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architecture, GPU on every node, early-termination broadcast, and dual attack modes — all in one system.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4160520" cy="1463040"/>
          </a:xfrm>
          <a:prstGeom prst="rect">
            <a:avLst/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246120"/>
            <a:ext cx="594360" cy="594360"/>
          </a:xfrm>
          <a:prstGeom prst="ellipse">
            <a:avLst/>
          </a:prstGeom>
          <a:solidFill>
            <a:srgbClr val="3E8EDE"/>
          </a:solidFill>
          <a:ln w="12700">
            <a:solidFill>
              <a:srgbClr val="3E8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246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Extensible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1500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dynamic load balancing integration; supports future multi-GPU node expansion.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TIET Patiala  ·  UCS645 Parallel &amp; Distributed Computing  ·  May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Parallel Distributed Password Cracking System</dc:title>
  <dc:subject>PptxGenJS Presentation</dc:subject>
  <dc:creator>PptxGenJS</dc:creator>
  <cp:lastModifiedBy>PptxGenJS</cp:lastModifiedBy>
  <cp:revision>1</cp:revision>
  <dcterms:created xsi:type="dcterms:W3CDTF">2026-04-30T12:39:50Z</dcterms:created>
  <dcterms:modified xsi:type="dcterms:W3CDTF">2026-04-30T12:39:50Z</dcterms:modified>
</cp:coreProperties>
</file>